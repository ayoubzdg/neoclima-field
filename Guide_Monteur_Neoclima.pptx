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Arial Black"/>
              </a:rPr>
              <a:t>NEOCLIMA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Guide
Monteur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Application terrain — Manuel d'utilisation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Version 2.0  ·  Confidentiel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502920"/>
            <a:ext cx="2331720" cy="42062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74536" y="804672"/>
            <a:ext cx="2167127" cy="384047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74536" y="804672"/>
            <a:ext cx="2167127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03236" y="585216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74536" y="804672"/>
            <a:ext cx="2167127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896112"/>
            <a:ext cx="21671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 Black"/>
              </a:rPr>
              <a:t>NEOCLIMA 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1060704"/>
            <a:ext cx="21671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3A5C"/>
                </a:solidFill>
                <a:latin typeface="Arial Black"/>
              </a:rPr>
              <a:t>Code PIN</a:t>
            </a:r>
          </a:p>
        </p:txBody>
      </p:sp>
      <p:sp>
        <p:nvSpPr>
          <p:cNvPr id="16" name="Oval 15"/>
          <p:cNvSpPr/>
          <p:nvPr/>
        </p:nvSpPr>
        <p:spPr>
          <a:xfrm>
            <a:off x="6775703" y="1335024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8895" y="1335024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1335024"/>
            <a:ext cx="219456" cy="219456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79" y="1335024"/>
            <a:ext cx="219456" cy="219456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0255" y="1682496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5" y="168249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682496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168249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7" y="1682496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2127" y="168249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0255" y="2130552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5" y="213055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51192" y="2130552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213055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7" y="2130552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213055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0255" y="2578608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5" y="2578608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1192" y="2578608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2578608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7" y="2578608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578608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1192" y="3026664"/>
            <a:ext cx="566928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1192" y="302666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7" y="3026664"/>
            <a:ext cx="566928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82127" y="302666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8229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 Black"/>
              </a:rPr>
              <a:t>CONNEXION À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3 étapes simples pour accéder à votre chantier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67512"/>
            <a:ext cx="2743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67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1. Code entreprise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115568"/>
            <a:ext cx="2514600" cy="3749039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3" y="1417320"/>
            <a:ext cx="2350008" cy="338327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3" y="1417320"/>
            <a:ext cx="23500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40764" y="11978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3" y="1417320"/>
            <a:ext cx="235000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1490472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NEOCLIMA  Field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667512"/>
            <a:ext cx="274320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667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2. Code PIN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1115568"/>
            <a:ext cx="2514600" cy="3749039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6704" y="1417320"/>
            <a:ext cx="2350008" cy="338327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6704" y="1417320"/>
            <a:ext cx="23500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6844" y="11978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46704" y="1417320"/>
            <a:ext cx="235000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1490472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NEOCLIMA  Field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667512"/>
            <a:ext cx="2743200" cy="38404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667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Black"/>
              </a:rPr>
              <a:t>3. Votre chantier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1115568"/>
            <a:ext cx="2514600" cy="3749039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2784" y="1417320"/>
            <a:ext cx="2350008" cy="338327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1417320"/>
            <a:ext cx="23500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92923" y="11978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1417320"/>
            <a:ext cx="235000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1490472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NEOCLIMA  Field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1645920"/>
            <a:ext cx="54864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165506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3A5C"/>
                </a:solidFill>
                <a:latin typeface="Calibri"/>
              </a:rPr>
              <a:t>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3" y="210312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Code entreprise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" y="2359152"/>
            <a:ext cx="2258568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2359152"/>
            <a:ext cx="22585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NEOCLIMA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3" y="2706624"/>
            <a:ext cx="2350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4748B"/>
                </a:solidFill>
                <a:latin typeface="Calibri"/>
              </a:rPr>
              <a:t>Saisi par votre responsable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" y="3017520"/>
            <a:ext cx="2258568" cy="2926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" y="3017520"/>
            <a:ext cx="2258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Continuer 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46704" y="1581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DC2626"/>
                </a:solidFill>
                <a:latin typeface="Calibri"/>
              </a:rPr>
              <a:t>← NEOCLIMA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6704" y="1783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3A5C"/>
                </a:solidFill>
                <a:latin typeface="Arial Black"/>
              </a:rPr>
              <a:t>Code PIN</a:t>
            </a:r>
          </a:p>
        </p:txBody>
      </p:sp>
      <p:sp>
        <p:nvSpPr>
          <p:cNvPr id="41" name="Oval 40"/>
          <p:cNvSpPr/>
          <p:nvPr/>
        </p:nvSpPr>
        <p:spPr>
          <a:xfrm>
            <a:off x="3483864" y="2066544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95344" y="2066544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06824" y="2066544"/>
            <a:ext cx="219456" cy="21945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18304" y="2066544"/>
            <a:ext cx="219456" cy="219456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0" y="2404872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2404872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32504" y="2404872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32504" y="2404872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1728" y="2404872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81728" y="2404872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2843784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2843784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32504" y="2843784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32504" y="2843784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81728" y="2843784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1728" y="2843784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3282696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0" y="3282696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32504" y="3282696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32504" y="3282696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8" y="3282696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81728" y="3282696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32504" y="3721608"/>
            <a:ext cx="57607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32504" y="3721608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81728" y="3721608"/>
            <a:ext cx="576072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81728" y="3721608"/>
            <a:ext cx="576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Calibri"/>
              </a:rPr>
              <a:t>⌫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72784" y="16093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5C"/>
                </a:solidFill>
                <a:latin typeface="Arial Black"/>
              </a:rPr>
              <a:t>Choisir le chantier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1901952"/>
            <a:ext cx="205740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64224" y="190195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3A5C"/>
                </a:solidFill>
                <a:latin typeface="Calibri"/>
              </a:rPr>
              <a:t>ROLEX CENTER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01583" y="190195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2404872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64224" y="24048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3A5C"/>
                </a:solidFill>
                <a:latin typeface="Calibri"/>
              </a:rPr>
              <a:t>SATELLITE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01583" y="240487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2907792"/>
            <a:ext cx="2057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4224" y="29077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3A5C"/>
                </a:solidFill>
                <a:latin typeface="Calibri"/>
              </a:rPr>
              <a:t>TOUR VAUDOISE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01583" y="290779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2784" y="35021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4748B"/>
                </a:solidFill>
                <a:latin typeface="Calibri"/>
              </a:rPr>
              <a:t>Si vous avez accès à
plusieurs chantiers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8229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 Black"/>
              </a:rPr>
              <a:t>MES TÂCHES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Votre écran principal — visible dès la connexion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5C"/>
                </a:solidFill>
                <a:latin typeface="Arial Black"/>
              </a:rPr>
              <a:t>Votre tableau de bord quotidien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53312"/>
            <a:ext cx="51206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53312"/>
            <a:ext cx="91440" cy="5486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52704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Tâche terminée ou en cours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Appuyez pour mettre à jour l'avancement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51206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011680"/>
            <a:ext cx="9144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" y="2185416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0482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Tâche planifiée — non démarrée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3042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Démarrez quand vous commencez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70048"/>
            <a:ext cx="51206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670048"/>
            <a:ext cx="914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" y="2843784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7066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Tâche bloquée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9626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Blocage déjà signalé au chef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56432"/>
            <a:ext cx="51206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11296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5C"/>
                </a:solidFill>
                <a:latin typeface="Calibri"/>
              </a:rPr>
              <a:t>💡  Touchez une tâche pour voir le détail,
     mettre à jour la quantité réalisée et changer le statut.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658368"/>
            <a:ext cx="2971800" cy="4251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960120"/>
            <a:ext cx="2807208" cy="388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88736" y="960120"/>
            <a:ext cx="28072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37476" y="7406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88736" y="960120"/>
            <a:ext cx="2807208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8" y="1014984"/>
            <a:ext cx="26609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Mes tâches du jour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1014984"/>
            <a:ext cx="26609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CADCFC"/>
                </a:solidFill>
                <a:latin typeface="Calibri"/>
              </a:rPr>
              <a:t>lun. 9 juin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599" y="1124712"/>
            <a:ext cx="2697479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599" y="1124712"/>
            <a:ext cx="73152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7" y="1197864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3A5C"/>
                </a:solidFill>
                <a:latin typeface="Calibri"/>
              </a:rPr>
              <a:t>Ventilo-convecteur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7" y="144475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Niv.3 — Bureau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7" y="1673352"/>
            <a:ext cx="621792" cy="1828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7" y="1673352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15803D"/>
                </a:solidFill>
                <a:latin typeface="Calibri"/>
              </a:rPr>
              <a:t>En cours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3" y="16916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4748B"/>
                </a:solidFill>
                <a:latin typeface="Calibri"/>
              </a:rPr>
              <a:t>6/8 pce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4776" y="139903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599" y="2176272"/>
            <a:ext cx="2697479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599" y="2176272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7" y="2249424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3A5C"/>
                </a:solidFill>
                <a:latin typeface="Calibri"/>
              </a:rPr>
              <a:t>Gaine galvanisée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7" y="249631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Niv.2 — Couloir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53327" y="2724912"/>
            <a:ext cx="621792" cy="1828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7" y="2724912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D97706"/>
                </a:solidFill>
                <a:latin typeface="Calibri"/>
              </a:rPr>
              <a:t>Planifiée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3" y="2743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4748B"/>
                </a:solidFill>
                <a:latin typeface="Calibri"/>
              </a:rPr>
              <a:t>0/12 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94776" y="2450591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599" y="3227832"/>
            <a:ext cx="2697479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599" y="3227832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3327" y="3300984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3A5C"/>
                </a:solidFill>
                <a:latin typeface="Calibri"/>
              </a:rPr>
              <a:t>Diffuseur plafond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7" y="354787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Niv.4 — Salle conf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3327" y="3776472"/>
            <a:ext cx="621792" cy="1828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53327" y="3776472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DC2626"/>
                </a:solidFill>
                <a:latin typeface="Calibri"/>
              </a:rPr>
              <a:t>Bloquée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9983" y="3794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64748B"/>
                </a:solidFill>
                <a:latin typeface="Calibri"/>
              </a:rPr>
              <a:t>2/5 pce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94776" y="350215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8229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 Black"/>
              </a:rPr>
              <a:t>DÉCLARER L'AVANCEMENT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Comment mettre à jour votre travail du 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Arial Black"/>
              </a:rPr>
              <a:t>4 étapes — rapide et simple :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36576" cy="3566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3258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Appuyez sur la tâche dans votre liste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002536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025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50008"/>
            <a:ext cx="36576" cy="3566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00253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Saisissez la quantité réalisée (ex: 6 pce)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2679191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791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26663"/>
            <a:ext cx="36576" cy="3566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679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Choisissez le statut : En cours ou Terminée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3558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558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3558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Appuyez sur  ✓ Enregistrer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77639"/>
            <a:ext cx="51206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32503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5C"/>
                </a:solidFill>
                <a:latin typeface="Calibri"/>
              </a:rPr>
              <a:t>💡  L'avancement est visible en temps réel par le chef de chantier.
     Mettez à jour dans la journée, pas uniquement en fin de journée.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658368"/>
            <a:ext cx="2971800" cy="4251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960120"/>
            <a:ext cx="2807208" cy="388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88736" y="960120"/>
            <a:ext cx="28072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37476" y="7406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88736" y="960120"/>
            <a:ext cx="280720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8" y="1033272"/>
            <a:ext cx="26609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← Ventilo-convecteur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1152144"/>
            <a:ext cx="1691640" cy="2011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1152144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1B3A5C"/>
                </a:solidFill>
                <a:latin typeface="Calibri"/>
              </a:rPr>
              <a:t>Niveau 3 — Bureau 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61888" y="1463040"/>
            <a:ext cx="2660903" cy="1097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61888" y="1463040"/>
            <a:ext cx="1995677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1888" y="1600200"/>
            <a:ext cx="26609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64748B"/>
                </a:solidFill>
                <a:latin typeface="Calibri"/>
              </a:rPr>
              <a:t>6 / 8 pce  ·  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1847088"/>
            <a:ext cx="26609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1E293B"/>
                </a:solidFill>
                <a:latin typeface="Calibri"/>
              </a:rPr>
              <a:t>Quantité réalisée 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61888" y="2066544"/>
            <a:ext cx="2660903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2066544"/>
            <a:ext cx="2660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  <a:latin typeface="Calibri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61888" y="2523744"/>
            <a:ext cx="100584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1888" y="25237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En cours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13448" y="2523744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13448" y="25237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5803D"/>
                </a:solidFill>
                <a:latin typeface="Calibri"/>
              </a:rPr>
              <a:t>Terminée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61888" y="2980944"/>
            <a:ext cx="2660903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61888" y="2980944"/>
            <a:ext cx="26609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 Enregistrer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8229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 Black"/>
              </a:rPr>
              <a:t>SIGNALER UN BLOCAGE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Quand votre travail est impossible à poursuivre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Arial Black"/>
              </a:rPr>
              <a:t>Ne restez jamais bloqué sans signaler :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36576" cy="3474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325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Dans la tâche → Statut → Bloquée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002536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025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50008"/>
            <a:ext cx="36576" cy="3474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002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Sélectionnez le type de blocage
(matériau, accès, gros-œuvre, autre…)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2679191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791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26663"/>
            <a:ext cx="36576" cy="3474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67919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Décrivez le problème en quelques mots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355848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558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3558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Appuyez sur Signaler le blocage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77639"/>
            <a:ext cx="51206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32503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Calibri"/>
              </a:rPr>
              <a:t>⚠  Un blocage signalé = le chef peut agir dans la journée.
    Ne jamais attendre le lendemain pour signaler.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658368"/>
            <a:ext cx="2971800" cy="4251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960120"/>
            <a:ext cx="2807208" cy="388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88736" y="960120"/>
            <a:ext cx="28072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37476" y="7406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88736" y="960120"/>
            <a:ext cx="2807208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8" y="1033272"/>
            <a:ext cx="26609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← Signaler un blocage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1124712"/>
            <a:ext cx="26609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Type de blocage 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353312"/>
            <a:ext cx="2660903" cy="3200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5896" y="1353312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DC2626"/>
                </a:solidFill>
                <a:latin typeface="Calibri"/>
              </a:rPr>
              <a:t>Matériau manquant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737360"/>
            <a:ext cx="2660903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5896" y="1737360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E293B"/>
                </a:solidFill>
                <a:latin typeface="Calibri"/>
              </a:rPr>
              <a:t>Accès bloqué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1888" y="2121408"/>
            <a:ext cx="2660903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25896" y="212140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E293B"/>
                </a:solidFill>
                <a:latin typeface="Calibri"/>
              </a:rPr>
              <a:t>Gros œuvre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61888" y="2505456"/>
            <a:ext cx="2660903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25896" y="2505456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E293B"/>
                </a:solidFill>
                <a:latin typeface="Calibri"/>
              </a:rPr>
              <a:t>Autre corps état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907792"/>
            <a:ext cx="26609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Description 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61888" y="3108960"/>
            <a:ext cx="266090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8464" y="3145536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E293B"/>
                </a:solidFill>
                <a:latin typeface="Calibri"/>
              </a:rPr>
              <a:t>Profilé galva manquant
pour raccordement N3…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61888" y="3730752"/>
            <a:ext cx="2660903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61888" y="3730752"/>
            <a:ext cx="26609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⚠  Signaler le blocage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8229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 Black"/>
              </a:rPr>
              <a:t>FIN DE JOURNÉE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Clôturez votre journée avant de quitter le chantier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Arial Black"/>
              </a:rPr>
              <a:t>À faire chaque soir :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36576" cy="3474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3258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Menu principal → "Fin de journée"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002536"/>
            <a:ext cx="347472" cy="347472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025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50008"/>
            <a:ext cx="36576" cy="3474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00253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Confirmez les tâches terminées  ✓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2679191"/>
            <a:ext cx="347472" cy="347472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791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26663"/>
            <a:ext cx="36576" cy="3474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679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Signalez les tâches non terminées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355848"/>
            <a:ext cx="347472" cy="347472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558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3558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Validez → le chef reçoit le bilan du jour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77639"/>
            <a:ext cx="512064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32503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  <a:latin typeface="Calibri"/>
              </a:rPr>
              <a:t>✓  Faites-le chaque soir sans exception.
    Cela permet au chef de préparer le planning du lendemain.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658368"/>
            <a:ext cx="2971800" cy="4251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960120"/>
            <a:ext cx="2807208" cy="3886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88736" y="960120"/>
            <a:ext cx="2807208" cy="1188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37476" y="740664"/>
            <a:ext cx="109728" cy="64008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88736" y="960120"/>
            <a:ext cx="280720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8" y="1033272"/>
            <a:ext cx="26609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 Black"/>
              </a:rPr>
              <a:t>Fin de journée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133856"/>
            <a:ext cx="862583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25312" y="1170432"/>
            <a:ext cx="8625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5803D"/>
                </a:solidFill>
                <a:latin typeface="Arial Black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1536192"/>
            <a:ext cx="862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Terminées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61048" y="1133856"/>
            <a:ext cx="862583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1048" y="1170432"/>
            <a:ext cx="8625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7706"/>
                </a:solidFill>
                <a:latin typeface="Arial Black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1048" y="1536192"/>
            <a:ext cx="862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En cours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6783" y="1133856"/>
            <a:ext cx="862583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6783" y="1170432"/>
            <a:ext cx="8625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Arial Black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6783" y="1536192"/>
            <a:ext cx="862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Bloquées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599" y="1883664"/>
            <a:ext cx="2697479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599" y="1883664"/>
            <a:ext cx="64008" cy="38404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44183" y="18836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1B3A5C"/>
                </a:solidFill>
                <a:latin typeface="Calibri"/>
              </a:rPr>
              <a:t>Ventilo-convecteur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4" y="1883664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50" b="1" i="0">
                <a:solidFill>
                  <a:srgbClr val="15803D"/>
                </a:solidFill>
                <a:latin typeface="Calibri"/>
              </a:rPr>
              <a:t>Terminée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599" y="2359152"/>
            <a:ext cx="2697479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599" y="2359152"/>
            <a:ext cx="64008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44183" y="23591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1B3A5C"/>
                </a:solidFill>
                <a:latin typeface="Calibri"/>
              </a:rPr>
              <a:t>Gaine galvanisée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4" y="2359152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50" b="1" i="0">
                <a:solidFill>
                  <a:srgbClr val="D97706"/>
                </a:solidFill>
                <a:latin typeface="Calibri"/>
              </a:rPr>
              <a:t>En cours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599" y="2834640"/>
            <a:ext cx="2697479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599" y="2834640"/>
            <a:ext cx="6400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44183" y="2834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1B3A5C"/>
                </a:solidFill>
                <a:latin typeface="Calibri"/>
              </a:rPr>
              <a:t>Diffuseur plafond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4" y="283464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50" b="1" i="0">
                <a:solidFill>
                  <a:srgbClr val="DC2626"/>
                </a:solidFill>
                <a:latin typeface="Calibri"/>
              </a:rPr>
              <a:t>Bloquée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1888" y="3840480"/>
            <a:ext cx="2660903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1888" y="3840480"/>
            <a:ext cx="26609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 Valider la journée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Les 4 règles d'or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À respecter sur tous les chantiers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8321040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73152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1790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Mettre à jour chaque tâche dans la journée — pas uniquement le soir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8321040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73152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34086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Signaler tout blocage immédiatement — ne jamais attendre le lendemain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35808"/>
            <a:ext cx="8321040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035808"/>
            <a:ext cx="73152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3580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16382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Clôturer la journée avant de quitter le chantier — chaque soir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58768"/>
            <a:ext cx="8321040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58768"/>
            <a:ext cx="73152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58768"/>
            <a:ext cx="594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98678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 jamais communiquer ou partager votre code PIN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